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1148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IQOO HACKATHON 2026 • HYDERABAD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EduPulse: Doubt-to-Diagram</a:t>
            </a:r>
          </a:p>
          <a:p>
            <a:pPr>
              <a:spcBef>
                <a:spcPts val="1000"/>
              </a:spcBef>
              <a:defRPr sz="2200">
                <a:solidFill>
                  <a:srgbClr val="94A3B8"/>
                </a:solidFill>
              </a:defRPr>
            </a:pPr>
            <a:r>
              <a:t>100% Offline AI STEM Tutor in Your Pocket — Powered by Mobile Silicon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3832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100% Air-Gapped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Zero Cloud Roundtrips • 100% Private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657600"/>
            <a:ext cx="33832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Tensor GPU Accelerated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LiteRT-LM OpenCL (~25 tokens/sec)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657600"/>
            <a:ext cx="33832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Compose Vector Canvas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Interactive Doubt-to-Diagram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Track: Edge AI &amp; Android Silicon Innovation  •  Validated on: Google Pixel 6a (Google Tensor G1)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EDUPULSE • ON-DEVICE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Real-World Problem: The Connectivity Divide in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[PROBLEM 01]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Rural Connectivity Desert</a:t>
            </a:r>
          </a:p>
          <a:p>
            <a:pPr>
              <a:spcBef>
                <a:spcPts val="1200"/>
              </a:spcBef>
              <a:defRPr sz="1250">
                <a:solidFill>
                  <a:srgbClr val="475569"/>
                </a:solidFill>
              </a:defRPr>
            </a:pPr>
            <a:r>
              <a:t>Over 60% of students in Tier-2/3 towns and rural schools have intermittent or zero internet at home.</a:t>
            </a:r>
            <a:br/>
            <a:br/>
            <a:r>
              <a:t>Cloud AI tutors (such as ChatGPT or cloud Photomath) fail completely in offline classrooms.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[PROBLEM 02]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Cloud Cost &amp; Latency Trap</a:t>
            </a:r>
          </a:p>
          <a:p>
            <a:pPr>
              <a:spcBef>
                <a:spcPts val="1200"/>
              </a:spcBef>
              <a:defRPr sz="1250">
                <a:solidFill>
                  <a:srgbClr val="475569"/>
                </a:solidFill>
              </a:defRPr>
            </a:pPr>
            <a:r>
              <a:t>Cloud APIs require recurring subscriptions ($10–20/mo) and roundtrip network latency (2–5 seconds).</a:t>
            </a:r>
            <a:br/>
            <a:br/>
            <a:r>
              <a:t>For millions of government school students, this creates a severe digital divide.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[PROBLEM 03]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Messy Classroom Notes</a:t>
            </a:r>
          </a:p>
          <a:p>
            <a:pPr>
              <a:spcBef>
                <a:spcPts val="1200"/>
              </a:spcBef>
              <a:defRPr sz="1250">
                <a:solidFill>
                  <a:srgbClr val="475569"/>
                </a:solidFill>
              </a:defRPr>
            </a:pPr>
            <a:r>
              <a:t>Students do not type math formulas; they write with pencils in paper notebooks.</a:t>
            </a:r>
            <a:br/>
            <a:br/>
            <a:r>
              <a:t>Standard cloud OCR engines choke on skewed angles, blurred pencil graphite, and handwriting quirks.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EDUPULSE • ON-DEVICE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Educational Dilemma: Wall-of-Text vs. Visual Intuition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[ TRADITIONAL CHATBOTS ]</a:t>
            </a:r>
          </a:p>
          <a:p>
            <a:pPr>
              <a:spcBef>
                <a:spcPts val="400"/>
              </a:spcBef>
              <a:defRPr sz="1600" b="1">
                <a:solidFill>
                  <a:srgbClr val="EF4444"/>
                </a:solidFill>
              </a:defRPr>
            </a:pPr>
            <a:r>
              <a:t>Wall-of-Text &amp; Passive Memorization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Outputs 50+ lines of static, unformatted math equations that intimidate learners.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Zero spatial representation: Students memorize formulas blindly without physical intuition.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Invisible forces: Deceleration, friction vectors, and kinematics remain completely hidden.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High drop-off rate: 70%+ of students stop reading text dumps halfway 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 EDUPULSE BREAKTHROUGH ]</a:t>
            </a:r>
          </a:p>
          <a:p>
            <a:pPr>
              <a:spcBef>
                <a:spcPts val="400"/>
              </a:spcBef>
              <a:defRPr sz="1600" b="1">
                <a:solidFill>
                  <a:srgbClr val="10B981"/>
                </a:solidFill>
              </a:defRPr>
            </a:pPr>
            <a:r>
              <a:t>Doubt-to-Diagram &amp; 'What-If?' Sandbox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Automatic parameter extraction: Pulls mass, initial velocity, friction, and forces directly from reasoning.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60 FPS Vector Canvas: Hardware-accelerated dynamic animation directly below solution.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Interactive 'What-If?' Sandbox: Slider recalculates stopping distance (s = u²/2a) in real-time.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4-Way Free-Body diagram: Visualizes normal, gravity, velocity, and retarding force vectors.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EDUPULSE • ON-DEVICE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Solution: 100% On-Device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[STEP 01]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Capture / Input</a:t>
            </a:r>
          </a:p>
          <a:p>
            <a:pPr algn="ctr"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CameraX viewfinder guide or Android Photo Picker. Zero cloud uploads.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[STEP 02]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PaddleOCR v5</a:t>
            </a:r>
          </a:p>
          <a:p>
            <a:pPr algn="ctr"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ONNX Runtime Mobile (DBNet + CRNN). ~180ms execution for messy handwriting.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[STEP 03]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Dual-Phase Fix</a:t>
            </a:r>
          </a:p>
          <a:p>
            <a:pPr algn="ctr"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Phase 1: Deterministic regex repair.</a:t>
            </a:r>
            <a:br/>
            <a:r>
              <a:t>Phase 2: Gemma self-reconstruction.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[STEP 04]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LiteRT-LM GPU</a:t>
            </a:r>
          </a:p>
          <a:p>
            <a:pPr algn="ctr"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Gemma 2B INT4 running on OpenCL GPU (~25 tok/s) with 0ms network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[STEP 05]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Vector Canvas</a:t>
            </a:r>
          </a:p>
          <a:p>
            <a:pPr algn="ctr"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Generates dynamic physics track, free-body schematics, and What-If slider.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EDUPULSE • ON-DEVICE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Innovation 1: Doubt-to-Diagram &amp; 'What-If?' Sandbox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Active Physical Experimentation in Real-Time</a:t>
            </a:r>
          </a:p>
          <a:p>
            <a:pPr>
              <a:spcBef>
                <a:spcPts val="800"/>
              </a:spcBef>
              <a:defRPr b="1" sz="1200">
                <a:solidFill>
                  <a:srgbClr val="6D28D9"/>
                </a:solidFill>
              </a:defRPr>
            </a:pPr>
            <a:r>
              <a:t>• Motion Track &amp; Force Equilibrium: </a:t>
            </a:r>
            <a:r>
              <a:rPr b="0" sz="1150">
                <a:solidFill>
                  <a:srgbClr val="475569"/>
                </a:solidFill>
              </a:rPr>
              <a:t>Visualizes the mass block moving along a friction track, with green velocity vector (→ u) and opposing red retarding force (← F) until rest.</a:t>
            </a:r>
          </a:p>
          <a:p>
            <a:pPr>
              <a:spcBef>
                <a:spcPts val="800"/>
              </a:spcBef>
              <a:defRPr b="1" sz="1200">
                <a:solidFill>
                  <a:srgbClr val="6D28D9"/>
                </a:solidFill>
              </a:defRPr>
            </a:pPr>
            <a:r>
              <a:t>• The 'What-If?' Speed Slider: </a:t>
            </a:r>
            <a:r>
              <a:rPr b="0" sz="1150">
                <a:solidFill>
                  <a:srgbClr val="475569"/>
                </a:solidFill>
              </a:rPr>
              <a:t>Students drag initial velocity u from 2.0 to 30.0 m/s. The app instantly recalculates stopping distance s = u² / 2a and stopping time t in real-time.</a:t>
            </a:r>
          </a:p>
          <a:p>
            <a:pPr>
              <a:spcBef>
                <a:spcPts val="800"/>
              </a:spcBef>
              <a:defRPr b="1" sz="1200">
                <a:solidFill>
                  <a:srgbClr val="6D28D9"/>
                </a:solidFill>
              </a:defRPr>
            </a:pPr>
            <a:r>
              <a:t>• Dynamic Vector Scaling: </a:t>
            </a:r>
            <a:r>
              <a:rPr b="0" sz="1150">
                <a:solidFill>
                  <a:srgbClr val="475569"/>
                </a:solidFill>
              </a:rPr>
              <a:t>The velocity arrow on top of the block expands and contracts smoothly on the Jetpack Compose Canvas.</a:t>
            </a:r>
          </a:p>
          <a:p>
            <a:pPr>
              <a:spcBef>
                <a:spcPts val="800"/>
              </a:spcBef>
              <a:defRPr b="1" sz="1200">
                <a:solidFill>
                  <a:srgbClr val="6D28D9"/>
                </a:solidFill>
              </a:defRPr>
            </a:pPr>
            <a:r>
              <a:t>• Pedagogical Impact: </a:t>
            </a:r>
            <a:r>
              <a:rPr b="0" sz="1150">
                <a:solidFill>
                  <a:srgbClr val="475569"/>
                </a:solidFill>
              </a:rPr>
              <a:t>Proves Newtonian kinematics visually: Doubling speed from 10 m/s (s = 20m) to 20 m/s (s = 80m) quadruples braking distance!</a:t>
            </a:r>
          </a:p>
        </p:txBody>
      </p:sp>
      <p:pic>
        <p:nvPicPr>
          <p:cNvPr id="6" name="Picture 5" descr="scroll_bottom_dia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280160"/>
            <a:ext cx="3474720" cy="772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EDUPULSE • ON-DEVICE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Innovation 2: Hyper-Local Vernacular &amp; Offline Voice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Breaking the English STEM Language Barrier</a:t>
            </a:r>
          </a:p>
          <a:p>
            <a:pPr>
              <a:spcBef>
                <a:spcPts val="800"/>
              </a:spcBef>
              <a:defRPr b="1" sz="1200">
                <a:solidFill>
                  <a:srgbClr val="6D28D9"/>
                </a:solidFill>
              </a:defRPr>
            </a:pPr>
            <a:r>
              <a:t>• Tri-Lingual Engine (Telugu, Hindi, English): </a:t>
            </a:r>
            <a:r>
              <a:rPr b="0" sz="1150">
                <a:solidFill>
                  <a:srgbClr val="475569"/>
                </a:solidFill>
              </a:rPr>
              <a:t>Instant 1-tap switching between languages. Over 70% of state-board students in Tier-2/3 study STEM in regional native languages.</a:t>
            </a:r>
          </a:p>
          <a:p>
            <a:pPr>
              <a:spcBef>
                <a:spcPts val="800"/>
              </a:spcBef>
              <a:defRPr b="1" sz="1200">
                <a:solidFill>
                  <a:srgbClr val="6D28D9"/>
                </a:solidFill>
              </a:defRPr>
            </a:pPr>
            <a:r>
              <a:t>• Zero English Bleed-Through: </a:t>
            </a:r>
            <a:r>
              <a:rPr b="0" sz="1150">
                <a:solidFill>
                  <a:srgbClr val="475569"/>
                </a:solidFill>
              </a:rPr>
              <a:t>Engineered prompt construction guarantees 100% fluent native script generation (Devanagari &amp; Telugu) with step-by-step math reasoning.</a:t>
            </a:r>
          </a:p>
          <a:p>
            <a:pPr>
              <a:spcBef>
                <a:spcPts val="800"/>
              </a:spcBef>
              <a:defRPr b="1" sz="1200">
                <a:solidFill>
                  <a:srgbClr val="6D28D9"/>
                </a:solidFill>
              </a:defRPr>
            </a:pPr>
            <a:r>
              <a:t>• Offline Android Text-to-Speech (TTS): </a:t>
            </a:r>
            <a:r>
              <a:rPr b="0" sz="1150">
                <a:solidFill>
                  <a:srgbClr val="475569"/>
                </a:solidFill>
              </a:rPr>
              <a:t>Tap 'Listen' for voice narration powered purely by local Android TTS engines. Pre-cleans Markdown syntax for natural speech.</a:t>
            </a:r>
          </a:p>
          <a:p>
            <a:pPr>
              <a:spcBef>
                <a:spcPts val="800"/>
              </a:spcBef>
              <a:defRPr b="1" sz="1200">
                <a:solidFill>
                  <a:srgbClr val="6D28D9"/>
                </a:solidFill>
              </a:defRPr>
            </a:pPr>
            <a:r>
              <a:t>• Accessibility for All Learners: </a:t>
            </a:r>
            <a:r>
              <a:rPr b="0" sz="1150">
                <a:solidFill>
                  <a:srgbClr val="475569"/>
                </a:solidFill>
              </a:rPr>
              <a:t>Empowers students with dyslexia, visual challenges, or early literacy barriers to learn science through sound and touch.</a:t>
            </a:r>
          </a:p>
        </p:txBody>
      </p:sp>
      <p:pic>
        <p:nvPicPr>
          <p:cNvPr id="6" name="Picture 5" descr="hindi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280160"/>
            <a:ext cx="3474720" cy="772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EDUPULSE • ON-DEVICE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Technical Architecture: The On-Device Silicon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[L1: INPUT]</a:t>
            </a:r>
          </a:p>
          <a:p>
            <a:pPr algn="ctr"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CameraX / Photo Picker</a:t>
            </a:r>
            <a:br/>
            <a:r>
              <a:t>Contrast Filter</a:t>
            </a:r>
            <a:br/>
            <a:r>
              <a:t>Grayscale Normalize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100" b="1">
                <a:solidFill>
                  <a:srgbClr val="6D28D9"/>
                </a:solidFill>
              </a:defRPr>
            </a:pPr>
            <a:r>
              <a:t>[L2: VISION OCR]</a:t>
            </a:r>
          </a:p>
          <a:p>
            <a:pPr algn="ctr"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PaddleOCR v5 DBNet</a:t>
            </a:r>
            <a:br/>
            <a:r>
              <a:t>CRNN Recognition</a:t>
            </a:r>
            <a:br/>
            <a:r>
              <a:t>ONNX Runtime v1.20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[L3: REPAIR]</a:t>
            </a:r>
          </a:p>
          <a:p>
            <a:pPr algn="ctr"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Phase 1: Regex Fix</a:t>
            </a:r>
            <a:br/>
            <a:r>
              <a:t>Phase 2: Gemma Fix</a:t>
            </a:r>
            <a:br/>
            <a:r>
              <a:t>Zero Cloud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[L4: LOCAL LLM]</a:t>
            </a:r>
          </a:p>
          <a:p>
            <a:pPr algn="ctr"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Google LiteRT-LM C++</a:t>
            </a:r>
            <a:br/>
            <a:r>
              <a:t>Gemma 2B INT4</a:t>
            </a:r>
            <a:br/>
            <a:r>
              <a:t>OpenCL GPU Shader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100" b="1">
                <a:solidFill>
                  <a:srgbClr val="EC4899"/>
                </a:solidFill>
              </a:defRPr>
            </a:pPr>
            <a:r>
              <a:t>[L5: REACTIVE UI]</a:t>
            </a:r>
          </a:p>
          <a:p>
            <a:pPr algn="ctr"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Jetpack Compose</a:t>
            </a:r>
            <a:br/>
            <a:r>
              <a:t>Kinematics Schema</a:t>
            </a:r>
            <a:br/>
            <a:r>
              <a:t>Offline Native TTS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EDUPULSE • ON-DEVICE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Live Hardware Benchmarks &amp; Zero-Cloud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Google Pixel 6a (Google Tensor G1 Silicon) Validation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Network Transmission: </a:t>
            </a:r>
            <a:r>
              <a:rPr b="1" sz="1200">
                <a:solidFill>
                  <a:srgbClr val="10B981"/>
                </a:solidFill>
              </a:rPr>
              <a:t>0.00 KB (100% Air-Gapped / Works in Airplane Mode)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GPU Inference Throughput: </a:t>
            </a:r>
            <a:r>
              <a:rPr b="1" sz="1200">
                <a:solidFill>
                  <a:srgbClr val="6D28D9"/>
                </a:solidFill>
              </a:rPr>
              <a:t>~22 – 28 tokens / second (LiteRT-LM OpenCL GPU)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Vision OCR Latency: </a:t>
            </a:r>
            <a:r>
              <a:rPr b="1" sz="1200">
                <a:solidFill>
                  <a:srgbClr val="06B6D4"/>
                </a:solidFill>
              </a:rPr>
              <a:t>~160 – 240 ms (PaddleOCR v5 on ONNX Runtime Mobile)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Active JVM Heap Memory: </a:t>
            </a:r>
            <a:r>
              <a:rPr b="1" sz="1200">
                <a:solidFill>
                  <a:srgbClr val="F59E0B"/>
                </a:solidFill>
              </a:rPr>
              <a:t>7 MB used / 256 MB max (1.4 GB weights mmap zero-copy)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Zero Cloud API Cost: </a:t>
            </a:r>
            <a:r>
              <a:rPr b="1" sz="1200">
                <a:solidFill>
                  <a:srgbClr val="10B981"/>
                </a:solidFill>
              </a:rPr>
              <a:t>$0.00 recurring fees • Zero user telemetry • 100% Private</a:t>
            </a:r>
          </a:p>
        </p:txBody>
      </p:sp>
      <p:pic>
        <p:nvPicPr>
          <p:cNvPr id="6" name="Picture 5" descr="silicon_hud_dialo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280160"/>
            <a:ext cx="3474720" cy="772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EDUPULSE • ON-DEVICE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Target Audience, NEP 2020 Alignment &amp;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[AUDIENCE]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Target Users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250M+ K-12 students in emerging markets across India.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Competitive exam aspirants (JEE Foundation, NEET Foundation).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Rural schools with computer labs lacking active internet.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[POLICY]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NEP 2020 Alignment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Mother-tongue STEM: Boosts foundational numeracy &amp; literacy.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Experiential learning: Replaces rote formula memorization.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Zero privacy risks: 100% offline, FERPA/COPPA compliant.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[GROWTH]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Roadmap &amp; Scale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Phase 1 (MVP): High School Kinematics (Validated on Pixel 6a).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Phase 2: Ray Optics, Chemical Equilibrium &amp; Geometric proofs.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Phase 3: OEM device pre-installation &amp; State Board bundles.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EDUPULSE • ON-DEVICE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EduPulse Wins the iQOO 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[CATEGORY 1]  Beyond Cloud Wrappers  —  </a:t>
            </a:r>
            <a:r>
              <a:rPr b="0" sz="1300">
                <a:solidFill>
                  <a:srgbClr val="E2E8F0"/>
                </a:solidFill>
              </a:rPr>
              <a:t>A true edge-silicon build utilizing OpenCL GPU shaders, ONNX Runtime Mobile v1.20, and zero-copy mmap weight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698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500" b="1">
                <a:solidFill>
                  <a:srgbClr val="6D28D9"/>
                </a:solidFill>
              </a:defRPr>
            </a:pPr>
            <a:r>
              <a:t>[CATEGORY 2]  Groundbreaking Innovation  —  </a:t>
            </a:r>
            <a:r>
              <a:rPr b="0" sz="1300">
                <a:solidFill>
                  <a:srgbClr val="E2E8F0"/>
                </a:solidFill>
              </a:rPr>
              <a:t>Doubt-to-Diagram transforms passive homework text into interactive 60fps vector physics simulations and What-If sandboxes.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228600" lIns="228600" rIns="22860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[CATEGORY 3]  Genuine Social Impact  —  </a:t>
            </a:r>
            <a:r>
              <a:rPr b="0" sz="1300">
                <a:solidFill>
                  <a:srgbClr val="E2E8F0"/>
                </a:solidFill>
              </a:rPr>
              <a:t>Air-gapped, zero-cost, tri-lingual STEM tutoring for millions of underserved students left behind by the cloud divide.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1">
                <a:solidFill>
                  <a:srgbClr val="FFFFFF"/>
                </a:solidFill>
              </a:defRPr>
            </a:pPr>
            <a:r>
              <a:t>"EduPulse turns any budget smartphone into an interactive, offline STEM laboratory."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